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97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502920" cy="50337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02920" y="109728"/>
            <a:ext cx="164592" cy="503377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286000" cy="503377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040880" y="457200"/>
            <a:ext cx="0" cy="429768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498080" y="457200"/>
            <a:ext cx="0" cy="429768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7955280" y="457200"/>
            <a:ext cx="0" cy="429768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8412480" y="457200"/>
            <a:ext cx="0" cy="429768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7040880" y="1097280"/>
            <a:ext cx="1371600" cy="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040880" y="2286000"/>
            <a:ext cx="1371600" cy="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040880" y="3474720"/>
            <a:ext cx="1371600" cy="0"/>
          </a:xfrm>
          <a:prstGeom prst="line">
            <a:avLst/>
          </a:prstGeom>
          <a:noFill/>
          <a:ln w="190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976872" y="103327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434072" y="103327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48472" y="103327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976872" y="22219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891272" y="22219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348472" y="22219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976872" y="341071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34072" y="341071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891272" y="341071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137160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UART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9E0"/>
                </a:solidFill>
              </a:rPr>
              <a:t>TX  RX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78040" y="160020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686800" y="160020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178040" y="187452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8686800" y="187452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7178040" y="214884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686800" y="2148840"/>
            <a:ext cx="1371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777240" y="731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E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77240" y="12801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UART</a:t>
            </a:r>
            <a:endParaRPr lang="en-US" sz="8000" dirty="0"/>
          </a:p>
        </p:txBody>
      </p:sp>
      <p:sp>
        <p:nvSpPr>
          <p:cNvPr id="33" name="Shape 31"/>
          <p:cNvSpPr/>
          <p:nvPr/>
        </p:nvSpPr>
        <p:spPr>
          <a:xfrm>
            <a:off x="777240" y="2606040"/>
            <a:ext cx="5029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777240" y="2724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8CA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Universal Asynchronous Receiver-Transmitter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329184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7724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</a:rPr>
              <a:t>ATmega1284P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329184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19456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</a:rPr>
              <a:t>Registros USART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11880" y="329184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61188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</a:rPr>
              <a:t>Conexiones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329184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502920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</a:rPr>
              <a:t>Código AVR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UCEVA — UNIVALLE sede Tuluá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UART?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73152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Definición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(Universal Asynchronous Receiver-Transmitter) es un protocolo de comunicación serie asíncrona ampliamente utilizado en sistemas embebidos.
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full-duplex (TX y RX simultáneos)
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señal de reloj externa (asíncrono)
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 líneas de datos: TX y RX
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configurable (baud rate)
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en todos los microcontroladores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62356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</a:rPr>
              <a:t>Parámetros clave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1508760"/>
            <a:ext cx="3108960" cy="43891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715000" y="15270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Baud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7282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9E0"/>
                </a:solidFill>
              </a:rPr>
              <a:t>Bits por segundo (9600, 115200…)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039112"/>
            <a:ext cx="3108960" cy="43891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715000" y="2057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Bits de datos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2585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9E0"/>
                </a:solidFill>
              </a:rPr>
              <a:t>5, 6, 7 u 8 bits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569464"/>
            <a:ext cx="3108960" cy="43891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715000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Paridad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2788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9E0"/>
                </a:solidFill>
              </a:rPr>
              <a:t>None, Even, Odd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099816"/>
            <a:ext cx="3108960" cy="43891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715000" y="3118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Stop bits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33192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9E0"/>
                </a:solidFill>
              </a:rPr>
              <a:t>1 o 2 bits de parada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630168"/>
            <a:ext cx="3108960" cy="43891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715000" y="3648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38496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9E0"/>
                </a:solidFill>
              </a:rPr>
              <a:t>Asíncrono / Síncrono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Estructura de la Trama UART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9436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</a:rPr>
              <a:t>IDLE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280160"/>
            <a:ext cx="685800" cy="960120"/>
          </a:xfrm>
          <a:prstGeom prst="rect">
            <a:avLst/>
          </a:prstGeom>
          <a:solidFill>
            <a:srgbClr val="3A1A1A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</a:rPr>
              <a:t>START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</a:rPr>
              <a:t>(0)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14884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74320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93192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52628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1280160"/>
            <a:ext cx="59436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715000" y="1600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CAE4"/>
                </a:solidFill>
              </a:rPr>
              <a:t>D7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280160"/>
            <a:ext cx="685800" cy="960120"/>
          </a:xfrm>
          <a:prstGeom prst="rect">
            <a:avLst/>
          </a:prstGeom>
          <a:solidFill>
            <a:srgbClr val="2A2A0A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309360" y="1463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PAR.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(opt)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1280160"/>
            <a:ext cx="685800" cy="960120"/>
          </a:xfrm>
          <a:prstGeom prst="rect">
            <a:avLst/>
          </a:prstGeom>
          <a:solidFill>
            <a:srgbClr val="0A2A0A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995160" y="1463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STOP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(1)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258568"/>
            <a:ext cx="8595360" cy="0"/>
          </a:xfrm>
          <a:prstGeom prst="line">
            <a:avLst/>
          </a:prstGeom>
          <a:noFill/>
          <a:ln w="12700">
            <a:solidFill>
              <a:srgbClr val="AEC9E0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457200" y="2587752"/>
            <a:ext cx="18288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731520" y="2514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START: Bit de inicio — siempre 0 (nivel bajo)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97180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731520" y="28986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D0-D7: Bits de datos (LSB primero, configurable 5-8 bits)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355848"/>
            <a:ext cx="18288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731520" y="32826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PARIDAD: Verificación de errores (par/impar/ninguna)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739896"/>
            <a:ext cx="182880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731520" y="36667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STOP: Bit de parada — siempre 1 (nivel alto), puede ser 1 o 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F2942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640080" y="41879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</a:rPr>
              <a:t>⚡  Baud Rate: velocidad de transmisión en bits/segundo. Emisor y receptor deben usar el mismo baud rate.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</a:rPr>
              <a:t>     Ejemplo: 9600 baud = 9600 bits/s ≈ 1 byte (8 bits + overhead) cada ~1 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Diagrama de Conexiones UART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194560" cy="2743200"/>
          </a:xfrm>
          <a:prstGeom prst="rect">
            <a:avLst/>
          </a:prstGeom>
          <a:solidFill>
            <a:srgbClr val="0D1B2A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94560" cy="457200"/>
          </a:xfrm>
          <a:prstGeom prst="rect">
            <a:avLst/>
          </a:prstGeom>
          <a:solidFill>
            <a:srgbClr val="1A3A5C"/>
          </a:solidFill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ATmega1284P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Disp.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TXD0 (PD1)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801368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RXD0 (PD0)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276856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GND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752344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583680" y="1051560"/>
            <a:ext cx="2194560" cy="2743200"/>
          </a:xfrm>
          <a:prstGeom prst="rect">
            <a:avLst/>
          </a:prstGeom>
          <a:solidFill>
            <a:srgbClr val="0D1B2A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583680" y="1051560"/>
            <a:ext cx="2194560" cy="457200"/>
          </a:xfrm>
          <a:prstGeom prst="rect">
            <a:avLst/>
          </a:prstGeom>
          <a:solidFill>
            <a:srgbClr val="1A3A5C"/>
          </a:solidFill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583680" y="1097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ATmega1284P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Disp. 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69164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720840" y="17465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RXD0 (PD0)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801368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720840" y="2167128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720840" y="22219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TXD0 (PD1)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276856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720840" y="2642616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720840" y="26974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GND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752344"/>
            <a:ext cx="2286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423160" y="1865376"/>
            <a:ext cx="416052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510528" y="181965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404872" y="181965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474720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TX → RX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2340864"/>
            <a:ext cx="4160520" cy="0"/>
          </a:xfrm>
          <a:prstGeom prst="line">
            <a:avLst/>
          </a:prstGeom>
          <a:noFill/>
          <a:ln w="381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6510528" y="2295144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2404872" y="2295144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3474720" y="2139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</a:rPr>
              <a:t>RX ← TX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23160" y="2816352"/>
            <a:ext cx="4160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6510528" y="2770632"/>
            <a:ext cx="128016" cy="12801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2404872" y="2770632"/>
            <a:ext cx="128016" cy="12801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474720" y="2624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GND común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1719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566160" y="2194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</a:rPr>
              <a:t>←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0F2942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0292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📌  Regla de oro UART: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4297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9E0"/>
                </a:solidFill>
              </a:rPr>
              <a:t>TX de un dispositivo siempre conecta con RX del otro y viceversa.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EC9E0"/>
                </a:solidFill>
              </a:rPr>
              <a:t>Nunca conectar TX↔TX o RX↔RX. GND debe ser común entre ambos dispositivos.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88696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A3A2A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3291840" y="1033273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</a:rPr>
              <a:t>🖥  PC / Módulo USB-Serial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Registros USART – ATmega1284P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</a:rPr>
              <a:t>El ATmega1284P dispone de 2 módulos USART independientes: USART0 y USART1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2179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1417320" cy="475488"/>
          </a:xfrm>
          <a:prstGeom prst="rect">
            <a:avLst/>
          </a:prstGeom>
          <a:solidFill>
            <a:srgbClr val="0914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819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 / 0x08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65960" y="132588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USART Data Register — buffer de transmisión (UDRTXn) y recepción (UDRRXn). Leer = recibido; Escribir = transmitir.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29384"/>
            <a:ext cx="8595360" cy="62179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74320" y="1929384"/>
            <a:ext cx="64008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11480" y="2002536"/>
            <a:ext cx="1417320" cy="475488"/>
          </a:xfrm>
          <a:prstGeom prst="rect">
            <a:avLst/>
          </a:prstGeom>
          <a:solidFill>
            <a:srgbClr val="09142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11480" y="20208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2768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0x00+2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65960" y="202082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USART Control &amp; Status A — RXCn, TXCn, UDREn, FEn, DORn, UPEn, U2Xn, MPCMn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24328"/>
            <a:ext cx="8595360" cy="62179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74320" y="2624328"/>
            <a:ext cx="64008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1417320" cy="475488"/>
          </a:xfrm>
          <a:prstGeom prst="rect">
            <a:avLst/>
          </a:prstGeom>
          <a:solidFill>
            <a:srgbClr val="091422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1148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UCSRnB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971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0x00+3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71576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USART Control &amp; Status B — RXCIEn, TXCIEn, UDRIEn, RXENn, TXENn, UCSZn2, RXB8n, TXB8n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9272"/>
            <a:ext cx="8595360" cy="62179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274320" y="3319272"/>
            <a:ext cx="64008" cy="6217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11480" y="3392424"/>
            <a:ext cx="1417320" cy="475488"/>
          </a:xfrm>
          <a:prstGeom prst="rect">
            <a:avLst/>
          </a:prstGeom>
          <a:solidFill>
            <a:srgbClr val="091422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11480" y="3410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UCSRnC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6667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0x00+4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5960" y="34107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USART Control &amp; Status C — UMSELn1:0, UPMn1:0, USBSn, UCSZn1:0, UCPOLn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14216"/>
            <a:ext cx="8595360" cy="62179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74320" y="4014216"/>
            <a:ext cx="64008" cy="62179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411480" y="4087368"/>
            <a:ext cx="1417320" cy="475488"/>
          </a:xfrm>
          <a:prstGeom prst="rect">
            <a:avLst/>
          </a:prstGeom>
          <a:solidFill>
            <a:srgbClr val="091422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11480" y="4105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UBRRnL/H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361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0x00+6/7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65960" y="410565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USART Baud Rate Register — valor de 12 bits que determina el baud rate. UBRRn = Fosc/(16·baud) - 1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Fuente: ATmega1284P Datasheet — Microchip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Bits de Control Esenciales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UCSRnB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1453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RXENn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63040" y="14721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Habilita receptor (UART RX)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TXENn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1947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Habilita transmisor (UART TX)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RXCIEn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2423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Interrupción por recepción completa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TXCIEn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63040" y="2898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Interrupción por transmisión completa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19272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65760" y="3355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UDRIEn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63040" y="3374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Interrupción cuando UDR está listo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65760" y="3831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UCSZn2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0" y="3849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Bit 2 de tamaño de dato (junto con UCSRnC)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75488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UCSRnC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1417320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846320" y="1472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UMSELn1:0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490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00=Async, 01=Sync, 11=SPI Master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984248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84632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UPMn1:0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057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00=No paridad, 10=Par, 11=Impar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551176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8463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USBSn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2624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Stop bits: 0→1 bit, 1→2 bits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118104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4846320" y="3172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UCSZn1:0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1912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Tamaño de dato: 11→8bits (más común)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85032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846320" y="3739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UCPOLn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37581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6A"/>
                </a:solidFill>
              </a:rPr>
              <a:t>Polaridad de reloj (solo modo Síncrono)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Importancia y Ventajas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Simplicidad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Solo 2 líneas de señal (TX/RX). No requiere reloj externo ni protocolo complejo.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889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33756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Universalidad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Presente en prácticamente todos los MCUs, FPGAs, módulos y periféricos modernos.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889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30936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</a:rPr>
              <a:t>Depuración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Ideal para consola de debug: envío de mensajes y datos en tiempo real por terminal.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889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5760" y="3035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6868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Full-Duplex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TX y RX operan simultáneamente sobre líneas separadas sin colisión de datos.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278892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337560" y="3035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4048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</a:rPr>
              <a:t>Configurabilidad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Baud rate, paridad, stop bits y tamaño de dato ajustables mediante registros.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78892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27889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309360" y="3035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1228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Bajo costo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9E0"/>
                </a:solidFill>
              </a:rPr>
              <a:t>No requiere hardware adicional para comunicación entre MCUs del mismo nivel de voltaje.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Aplicaciones de UART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7472" y="10149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📡  Comunicación inalámbrica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6002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30352" y="1545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Bluetooth (HC-05/HC-06)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92024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0352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WiFi (ESP8266/ESP32)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240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30352" y="2185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LoRa (SX1278)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5603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30352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ZigBee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319272" y="10149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🌍  GPS y Localización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5848" y="16002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502152" y="1545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GPS (NEO-6M, u-blox)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192024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502152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Lectura de sentencias NMEA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2240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502152" y="2185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Sistemas de rastreo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25603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502152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Drones y robótica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217920" y="960120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291072" y="10149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🖥  Interfaz con PC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7648" y="16002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473952" y="1545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Consola de depuración serial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27648" y="192024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473952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Programadores ISP/JTAG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27648" y="2240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473952" y="2185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Convertidores USB-UART (CH340)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27648" y="25603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6473952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Bootloaders Arduino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8986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274320" y="2898648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47472" y="29535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🤖  Sistemas Embebidos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" y="35387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530352" y="3483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Comunicación entre MCUs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" y="385876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30352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PLCs industriales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" y="41788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530352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Pantallas LCD (serie)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4048" y="449884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530352" y="44439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Lectores de código de barras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46120" y="28986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3246120" y="2898648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3319272" y="29535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📲  Módulos de Sensores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55848" y="35387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3502152" y="3483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Sensores PM2.5 (aire)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55848" y="385876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3502152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Sensores CO2 (MH-Z19)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355848" y="41788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3502152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Lectores RFID/NFC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355848" y="449884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3502152" y="44439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Módulos GSM (SIM800)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0" y="28986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6217920" y="2898648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6291072" y="29535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🏭  Industrial / IoT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27648" y="35387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6473952" y="3483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Protocolo RS-232 / RS-485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27648" y="385876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/>
          <p:nvPr/>
        </p:nvSpPr>
        <p:spPr>
          <a:xfrm>
            <a:off x="6473952" y="3803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MODBUS RTU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27648" y="41788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66"/>
          <p:cNvSpPr/>
          <p:nvPr/>
        </p:nvSpPr>
        <p:spPr>
          <a:xfrm>
            <a:off x="6473952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Automatización industrial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327648" y="449884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8"/>
          <p:cNvSpPr/>
          <p:nvPr/>
        </p:nvSpPr>
        <p:spPr>
          <a:xfrm>
            <a:off x="6473952" y="44439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6A"/>
                </a:solidFill>
              </a:rPr>
              <a:t>Medidores inteligentes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Text 70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Código C — Inicialización UART (AVR)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95360" y="274320"/>
            <a:ext cx="118872" cy="1188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759952" y="274320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924544" y="274320"/>
            <a:ext cx="118872" cy="1188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Definiciones y cálculo de UBRR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8778240" cy="1453896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15214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&lt;avr/io.h&gt;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761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&lt;avr/interrupt.h&gt;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0020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2422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F_CPU    16000000UL   // Frecuencia del cristal: 16 MHz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BAUD     9600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7228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UBRR_VAL ((F_CPU / (16UL * BAUD)) - 1)   // = 103 para 9600 baud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6243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Función de inicialización USART0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880360"/>
            <a:ext cx="8778240" cy="2574036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74320" y="293522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USART0_Init(void) {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15925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Configurar baud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UBRR0H = (uint8_t)(UBRR_VAL &gt;&gt; 8);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60730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UBRR0L = (uint8_t)(UBRR_VAL);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83133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05536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Habilitar Transmisor y Receptor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27939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UCSR0B = (1 &lt;&lt; RXEN0) | (1 &lt;&lt; TXEN0);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50342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72744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Formato: 8 bits de datos, sin paridad, 1 stop bit (8N1)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95147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UCSR0C = (1 &lt;&lt; UCSZ01) | (1 &lt;&lt; UCSZ00);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517550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Código C — Transmisión y Recepción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95360" y="274320"/>
            <a:ext cx="118872" cy="1188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759952" y="274320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924544" y="274320"/>
            <a:ext cx="118872" cy="1188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Enviar un byte y una cadena de texto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8778240" cy="1901952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15214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USART0_SendByte(uint8_t data)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761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(!(UCSR0A &amp; (1 &lt;&lt; UDRE0)));  // Esperar buffer libre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0020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UDR0 = data;                        // Escribir dato al registro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2422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7228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USART0_SendString(const char *str) {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49631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(*str) USART0_SendByte(*str++);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2034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" y="30723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Recibir un byte (polling)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3328416"/>
            <a:ext cx="8778240" cy="2125980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USART0_ReceiveByte(void) {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60730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(!(UCSR0A &amp; (1 &lt;&lt; RXC0)));   // Esperar dato disponible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83133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UDR0;                         // Leer y retornar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05536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27939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50342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 en main():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72744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USART0_Init();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95147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USART0_SendString("Hola UART!\r\n");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517550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uint8_t rx = USART0_ReceiveByte();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Código C — Interrupción RX y USART1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95360" y="274320"/>
            <a:ext cx="118872" cy="1188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759952" y="274320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924544" y="274320"/>
            <a:ext cx="118872" cy="1188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Habilitar interrupción de recepción en USART0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8778240" cy="2125980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15214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Activar interrupción USART0 RX Complete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761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UCSR0B |= (1 &lt;&lt; RXCIE0);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0020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sei();   // Habilitar interrupciones globales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2422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ISR(USART0_RX_vect)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7228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dato = UDR0;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49631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Procesar dato recibido aquí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2034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USART0_SendByte(dato);   // Echo del byte recibido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94436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2964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Inicializar USART1 (segundo puerto serie del ATmega1284P)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552444"/>
            <a:ext cx="8778240" cy="1901952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74320" y="360730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USART1_Init(uint16_t ubrr)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83133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UBRR1H = (uint8_t)(ubrr &gt;&gt; 8);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05536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UBRR1L = (uint8_t)(ubrr);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27939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UCSR1B = (1 &lt;&lt; RXEN1) | (1 &lt;&lt; TXEN1);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50342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UCSR1C = (1 &lt;&lt; UCSZ11) | (1 &lt;&lt; UCSZ10); // 8N1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72744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95147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Uso: USART1_Init(UBRR_VAL);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517550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Pines: TXD1 = PD3, RXD1 = PD2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Microchip Studio — Proyecto AVR-GCC (Registros)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95360" y="274320"/>
            <a:ext cx="118872" cy="1188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759952" y="274320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924544" y="274320"/>
            <a:ext cx="118872" cy="1188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Archivo: uart.h — cabecera con prototipo de funciones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8778240" cy="3470148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15214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 UART_H_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761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UART_H_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0020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2422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&lt;avr/io.h&gt;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7228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F_CPU     16000000UL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49631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BAUD      9600UL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2034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UBRR_VAL  ((F_CPU / (16UL * BAUD)) - 1)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94436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16839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USART0_Init(void);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39242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USART0_Tx(uint8_t dato);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61645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USART0_TxStr(const char *s);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84048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USART0_Rx(void);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06450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28853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 /* UART_H_ */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46405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Archivo: uart.c — implementación sobre registros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" y="4896612"/>
            <a:ext cx="8778240" cy="3918204"/>
          </a:xfrm>
          <a:prstGeom prst="rect">
            <a:avLst/>
          </a:prstGeom>
          <a:solidFill>
            <a:srgbClr val="1B2B3C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74320" y="495147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"uart.h"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517550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539953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USART0_Init(void) {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562356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UBRR0H = (uint8_t)(UBRR_VAL &gt;&gt; 8);   // Baud rate HIGH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584758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UBRR0L = (uint8_t)(UBRR_VAL);         // Baud rate 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607161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UCSR0B = (1&lt;&lt;RXEN0)|(1&lt;&lt;TXEN0);       // Habilitar RX y TX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629564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UCSR0C = (1&lt;&lt;UCSZ01)|(1&lt;&lt;UCSZ00);     // 8 bits datos, sin paridad, 1 stop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65196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674370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USART0_Tx(uint8_t dato) {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696772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(!(UCSR0A &amp; (1&lt;&lt;UDRE0)));        // Esperar buffer libre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719175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UDR0 = dato;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741578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763981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USART0_TxStr(const char *s) { while(*s) USART0_Tx(*s++); }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7863840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USART0_Rx(void) {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8087868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(!(UCSR0A &amp; (1&lt;&lt;RXC0)));         // Esperar dato disponible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8311896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UDR0;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8535924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Cálculo de Baud Rate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UBRRn  =  Fosc / (16 × BAUD)  − 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96596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96596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1148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9436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MHz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2368296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28600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9 600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368296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11480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2368296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94360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7063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572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MHz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277063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22860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19 200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277063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1148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277063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9436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5720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MHz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3172968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28600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38 400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3172968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11480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0" y="3172968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94360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57530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5720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MHz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0" y="357530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228600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115 200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357530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11480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0" y="357530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594360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−3.5%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MHz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0" y="3977640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2860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9 600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14800" y="3977640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41148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129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0" y="3977640"/>
            <a:ext cx="1828800" cy="384048"/>
          </a:xfrm>
          <a:prstGeom prst="rect">
            <a:avLst/>
          </a:prstGeom>
          <a:solidFill>
            <a:srgbClr val="EFF4FA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59436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37997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457200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MHz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86000" y="437997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2286000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115 200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114800" y="437997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4114800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43600" y="437997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5943600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A261"/>
                </a:solidFill>
              </a:rPr>
              <a:t>⚠  Para U2Xn=1 (modo doble velocidad): UBRRn = Fosc / (8 × BAUD) − 1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9E0"/>
                </a:solidFill>
              </a:rPr>
              <a:t>Comunicación UART – ATmega1284P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502920" cy="50337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02920" y="109728"/>
            <a:ext cx="109728" cy="503377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8CAE4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051560"/>
            <a:ext cx="5029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77240" y="128016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UART es el protocolo serial más utilizado en sistemas embebidos por su simpleza y bajo costo de implementación.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93852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El ATmega1284P ofrece dos módulos USART independientes (USART0 y USART1), ideal para aplicaciones que requieren múltiples canales de comunicación simultáneos.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5968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7724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5054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La correcta configuración de registros (UCSRnB, UCSRnC, UBRRn) es fundamental para una comunicación confiable.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2552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7724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1638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UART es la base de múltiples protocolos industriales y estándares de comunicación modernos (RS-232, RS-485, MODBUS).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91363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7724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8221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9E0"/>
                </a:solidFill>
              </a:rPr>
              <a:t>Dominar UART es el primer paso para integrar módulos WiFi, Bluetooth, GPS y GSM en proyectos IoT.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77240" y="46268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CAE4"/>
                </a:solidFill>
              </a:rPr>
              <a:t>Juan Sebastián Correa Fernández  |  UCEVA – UNIVALLE sede Tuluá  |  Centro STEAM+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C64DC3-336E-4343-B23B-F7867B97AC79}">
  <we:reference id="wa200010001" version="1.0.0.1" store="es-E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1842</Words>
  <Application>Microsoft Office PowerPoint</Application>
  <PresentationFormat>Presentación en pantalla (16:9)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Comunicación UART - ATmega1284P</dc:title>
  <dc:subject>PptxGenJS Presentation</dc:subject>
  <dc:creator>Juan Sebastián Correa Fernández</dc:creator>
  <cp:lastModifiedBy>juan correa</cp:lastModifiedBy>
  <cp:revision>3</cp:revision>
  <dcterms:created xsi:type="dcterms:W3CDTF">2026-03-17T16:38:47Z</dcterms:created>
  <dcterms:modified xsi:type="dcterms:W3CDTF">2026-03-21T16:22:11Z</dcterms:modified>
</cp:coreProperties>
</file>